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CBA1E4-2475-4708-94DC-F2F2A269EA25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2EE35F59-4B6B-4E81-9C3A-45FF9DEC9B6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26FE2-FDAA-4D60-9A05-E79F91C76C7D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EEE27-F82F-470F-AAA8-B4C640B9B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6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CA47-3D95-0C0B-4833-0E24C4633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74571-C0AE-86A1-B69D-39C1A2C8B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6C3EA-0C0F-1EBA-BE7E-CA5D8DE9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7E75-87A3-ED31-A9B3-2746E602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F0B31-BE05-3368-E670-65B7A952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9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945B-07B8-3248-19EF-26ABE8CD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7746-CE73-5C83-E1BD-F05626E87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C6DA0-7E7A-8A3E-D473-BF3133DC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25B66-DF4C-3A0B-5690-E3AF7E84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60FA-E3AE-D7C8-EF5D-8B383842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11D29-F5F3-45A9-923D-3007A0CD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50D70-C695-162F-339A-EA8A757FD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8865F-8DAA-BF14-A619-22DC716E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AF77-68C5-1330-99D0-B2A78833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BE35A-5B51-1059-2CE3-C5430361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3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5A30-653A-6A9E-34BC-1C7B9E83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E09B8-8A20-8A93-7A7D-4544F1756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56247-3628-C761-DBFF-85C009F1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08F54-F15F-42BA-144C-C0CB3345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BFC2F-4F67-FA95-BD9B-EFFE59C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2EE94-5351-7CD7-C5A1-68E53CAE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7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A4C1-28AB-8C14-6550-C2173371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C17AF-6641-3C5A-E6AA-14408C36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E0530-8ACB-82A8-6B18-50A820F9D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0E3FF-F6E2-410E-635A-A1308C66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56B29-D8CB-8235-337F-CA35A6FC4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81B65-395F-F262-9BAD-9897681B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1CD8E-2209-ECE2-3B3E-8B06A5C4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57ABB-D553-9391-B0A6-D94C8C6F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CBAC-4C97-1625-9646-8A1E96E7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A3CCA-F005-6668-6E07-C0EE5AED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1EC63-852E-E8AB-7C55-2BBD686A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46BD6-B5F0-B822-1BBF-954570D6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1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D298A-1414-30E7-26C7-E45F589B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ED32B-D623-2908-CC97-FB2651BC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A45A-73A3-927D-A20B-E30345E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00E0-7C3E-8E3B-39BF-14FBA879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1314E-30EE-3188-3D0D-5015A0F43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0057D-2CA2-4689-7F33-E262ECD1B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6B160-D85B-8935-3B8E-40107123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5211E-9A9B-E914-BD3E-B1AEE869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930E6-0330-7869-0108-EF9C783E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1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E3DD-6C66-7C64-458E-080FBAC5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F5202-CAD2-139D-5A96-B6835F4C7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02547-39B2-863B-AFF8-02827382C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305E2-8741-39A4-99C2-67B2FCB8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C5697-732A-59B6-0B16-B63C7148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538DD-63D4-B785-94DC-4D980CE6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8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9351-A629-2D97-14EB-03C24FC4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87CCE-611A-ED5C-6296-EF2B80BB6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15CDE-6F24-136B-96B6-69353252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56F6-40CB-7E3A-2A2D-2A56BB7A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66585-7123-D563-2508-C9C589EF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1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689F1-E2A1-6305-B920-FB6B0CA0B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46891-31A2-03A9-DE2C-F64F34A93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4D571-DD8C-520E-14F7-720BE16B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EFD6D-9927-59C1-4941-728173B3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069B1-6D1B-0A9B-B5FB-7710A25E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7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569FC-3332-783A-50B9-7FE4A995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C361F-33EA-6294-9C71-BA6429FA1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B9735-ADD7-FB55-96D9-44844B358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7A64-BB7F-493F-953F-2DEA86E573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C45D0-14A7-7F1D-603E-CB9C3B867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066E2-1ECC-8C89-E0F6-9A3639AB9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621CF-4A80-46E1-80CF-E7E9875ED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05A7-DEA2-B15A-0CD5-5DD6BDA27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19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APAC Market Entry Sequencing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8B608-08E0-84B0-3D62-1C0FFB7F1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49" y="2701696"/>
            <a:ext cx="4114800" cy="2152139"/>
          </a:xfrm>
        </p:spPr>
        <p:txBody>
          <a:bodyPr>
            <a:normAutofit/>
          </a:bodyPr>
          <a:lstStyle/>
          <a:p>
            <a:r>
              <a:rPr lang="en-US" dirty="0"/>
              <a:t>Recommended Entry Sequence</a:t>
            </a:r>
          </a:p>
          <a:p>
            <a:r>
              <a:rPr lang="en-US" dirty="0"/>
              <a:t>Wave 1: Singapore, Australia</a:t>
            </a:r>
          </a:p>
          <a:p>
            <a:r>
              <a:rPr lang="en-US" dirty="0"/>
              <a:t>Wave 2: Japan, South Korea</a:t>
            </a:r>
          </a:p>
          <a:p>
            <a:r>
              <a:rPr lang="en-US" dirty="0"/>
              <a:t>Monitor: Hong Kong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62900-BF6D-3815-8F6A-0666484021BF}"/>
              </a:ext>
            </a:extLst>
          </p:cNvPr>
          <p:cNvSpPr txBox="1"/>
          <p:nvPr/>
        </p:nvSpPr>
        <p:spPr>
          <a:xfrm>
            <a:off x="6817153" y="2701696"/>
            <a:ext cx="4114800" cy="2152139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sz="2000" dirty="0"/>
              <a:t>• Prioritizes regulatory predictability and learning velocity.</a:t>
            </a:r>
          </a:p>
          <a:p>
            <a:r>
              <a:rPr lang="en-US" sz="2000" dirty="0"/>
              <a:t>• Sequences localization-heavy markets after operating muscle is built.</a:t>
            </a:r>
          </a:p>
          <a:p>
            <a:r>
              <a:rPr lang="en-US" sz="2000" dirty="0"/>
              <a:t>• Preserves optionality while minimizing irreversible risk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0E00-2F98-7A60-A339-76A03653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Simulated analysis for illustrative purposes</a:t>
            </a:r>
          </a:p>
        </p:txBody>
      </p:sp>
    </p:spTree>
    <p:extLst>
      <p:ext uri="{BB962C8B-B14F-4D97-AF65-F5344CB8AC3E}">
        <p14:creationId xmlns:p14="http://schemas.microsoft.com/office/powerpoint/2010/main" val="34338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67762-9428-749F-C2AC-07CE1792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Markets Were Evaluated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8F470-D992-BBBD-3870-9BCCCD484E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Operator-focused screening across 7 execution-relevant factors</a:t>
            </a:r>
          </a:p>
          <a:p>
            <a:r>
              <a:rPr lang="en-US" dirty="0"/>
              <a:t>Emphasis on predictability before scale</a:t>
            </a:r>
          </a:p>
          <a:p>
            <a:r>
              <a:rPr lang="en-US" dirty="0"/>
              <a:t>Weighted scorecard to surface tradeoffs explicitly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A114F0F-D99B-AE36-F1B5-3B0F4D1FF1F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3456411"/>
              </p:ext>
            </p:extLst>
          </p:nvPr>
        </p:nvGraphicFramePr>
        <p:xfrm>
          <a:off x="6172200" y="1825625"/>
          <a:ext cx="5181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68770676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244151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55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Regulatory Predictability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5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6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Fintech 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69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Localization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8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781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Competitive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58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GTM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738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74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B5B1-EECA-6EAB-0375-B432CAC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Relative Market Attractiveness Across Key Factors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A0780DD-23EB-6B52-CD19-7313AC99A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986203"/>
              </p:ext>
            </p:extLst>
          </p:nvPr>
        </p:nvGraphicFramePr>
        <p:xfrm>
          <a:off x="754144" y="1825625"/>
          <a:ext cx="1059965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57">
                  <a:extLst>
                    <a:ext uri="{9D8B030D-6E8A-4147-A177-3AD203B41FA5}">
                      <a16:colId xmlns:a16="http://schemas.microsoft.com/office/drawing/2014/main" val="3488182868"/>
                    </a:ext>
                  </a:extLst>
                </a:gridCol>
                <a:gridCol w="1478971">
                  <a:extLst>
                    <a:ext uri="{9D8B030D-6E8A-4147-A177-3AD203B41FA5}">
                      <a16:colId xmlns:a16="http://schemas.microsoft.com/office/drawing/2014/main" val="1595420224"/>
                    </a:ext>
                  </a:extLst>
                </a:gridCol>
                <a:gridCol w="1170943">
                  <a:extLst>
                    <a:ext uri="{9D8B030D-6E8A-4147-A177-3AD203B41FA5}">
                      <a16:colId xmlns:a16="http://schemas.microsoft.com/office/drawing/2014/main" val="1328395995"/>
                    </a:ext>
                  </a:extLst>
                </a:gridCol>
                <a:gridCol w="1324957">
                  <a:extLst>
                    <a:ext uri="{9D8B030D-6E8A-4147-A177-3AD203B41FA5}">
                      <a16:colId xmlns:a16="http://schemas.microsoft.com/office/drawing/2014/main" val="2419157220"/>
                    </a:ext>
                  </a:extLst>
                </a:gridCol>
                <a:gridCol w="1324957">
                  <a:extLst>
                    <a:ext uri="{9D8B030D-6E8A-4147-A177-3AD203B41FA5}">
                      <a16:colId xmlns:a16="http://schemas.microsoft.com/office/drawing/2014/main" val="2496511807"/>
                    </a:ext>
                  </a:extLst>
                </a:gridCol>
                <a:gridCol w="1324957">
                  <a:extLst>
                    <a:ext uri="{9D8B030D-6E8A-4147-A177-3AD203B41FA5}">
                      <a16:colId xmlns:a16="http://schemas.microsoft.com/office/drawing/2014/main" val="3698579053"/>
                    </a:ext>
                  </a:extLst>
                </a:gridCol>
                <a:gridCol w="1363164">
                  <a:extLst>
                    <a:ext uri="{9D8B030D-6E8A-4147-A177-3AD203B41FA5}">
                      <a16:colId xmlns:a16="http://schemas.microsoft.com/office/drawing/2014/main" val="4218332158"/>
                    </a:ext>
                  </a:extLst>
                </a:gridCol>
                <a:gridCol w="1286750">
                  <a:extLst>
                    <a:ext uri="{9D8B030D-6E8A-4147-A177-3AD203B41FA5}">
                      <a16:colId xmlns:a16="http://schemas.microsoft.com/office/drawing/2014/main" val="3340496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Regulatory Predictability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Fintech 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Localization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Competitive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GTM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06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9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9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9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South Korea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7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48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00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A84F4-D788-94C6-F22C-5814E96F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Wave 1 Markets Enable Fast Learning with Low Execution Risk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263BA0-3CEE-3449-46C5-342C949506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000" b="1" dirty="0"/>
              <a:t>Singapore</a:t>
            </a:r>
          </a:p>
          <a:p>
            <a:r>
              <a:rPr lang="en-US" dirty="0"/>
              <a:t>Clear regulatory environment</a:t>
            </a:r>
          </a:p>
          <a:p>
            <a:r>
              <a:rPr lang="en-US" dirty="0"/>
              <a:t>Dense fintech ecosystem</a:t>
            </a:r>
          </a:p>
          <a:p>
            <a:r>
              <a:rPr lang="en-US" dirty="0"/>
              <a:t>Fast feedback loops</a:t>
            </a:r>
          </a:p>
          <a:p>
            <a:r>
              <a:rPr lang="en-US" dirty="0"/>
              <a:t>Minimal localization required to launch and iterate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D9B8-0207-5ABB-EE13-EDABBC470C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000" b="1" dirty="0"/>
              <a:t>Australia</a:t>
            </a:r>
          </a:p>
          <a:p>
            <a:r>
              <a:rPr lang="en-US" dirty="0"/>
              <a:t>Scaled English-speaking market</a:t>
            </a:r>
          </a:p>
          <a:p>
            <a:r>
              <a:rPr lang="en-US" dirty="0"/>
              <a:t>Predictable compliance environment</a:t>
            </a:r>
          </a:p>
          <a:p>
            <a:r>
              <a:rPr lang="en-US" dirty="0"/>
              <a:t>Strong foundation for repeatable entry playbooks</a:t>
            </a:r>
          </a:p>
        </p:txBody>
      </p:sp>
    </p:spTree>
    <p:extLst>
      <p:ext uri="{BB962C8B-B14F-4D97-AF65-F5344CB8AC3E}">
        <p14:creationId xmlns:p14="http://schemas.microsoft.com/office/powerpoint/2010/main" val="80147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D83926-F942-9555-E175-31D46E7F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Wave 2 Balance Upside with Operational Readiness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38BA3C-4BBA-DBAC-F25E-B2AA5F334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9407" y="1969626"/>
            <a:ext cx="34698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/>
              <a:t>Japan</a:t>
            </a:r>
          </a:p>
          <a:p>
            <a:r>
              <a:rPr lang="en-US" dirty="0"/>
              <a:t>Large market and upside potential</a:t>
            </a:r>
          </a:p>
          <a:p>
            <a:r>
              <a:rPr lang="en-US" dirty="0"/>
              <a:t>High localization and trust requirements</a:t>
            </a:r>
          </a:p>
          <a:p>
            <a:r>
              <a:rPr lang="en-US" dirty="0"/>
              <a:t>Best entered once repeatable entry capabilities are proven</a:t>
            </a:r>
          </a:p>
          <a:p>
            <a:pPr marL="0" indent="0">
              <a:buNone/>
            </a:pPr>
            <a:endParaRPr lang="en-US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1CB62-BFFC-C7AA-FACA-4A21A32D7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973" y="1979341"/>
            <a:ext cx="3469850" cy="435292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5D8AF4E-7F4D-6765-104F-AF9A8FB60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32745" y="1969626"/>
            <a:ext cx="34698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/>
              <a:t>Hong Kong (monitor)</a:t>
            </a:r>
          </a:p>
          <a:p>
            <a:r>
              <a:rPr lang="en-US" dirty="0"/>
              <a:t>Strong financial services hub, but limited near-term growth</a:t>
            </a:r>
          </a:p>
          <a:p>
            <a:r>
              <a:rPr lang="en-US" dirty="0"/>
              <a:t>Elevated uncertainty warrants observation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E1905-EBB6-74AC-7469-8826EF119B2F}"/>
              </a:ext>
            </a:extLst>
          </p:cNvPr>
          <p:cNvSpPr txBox="1"/>
          <p:nvPr/>
        </p:nvSpPr>
        <p:spPr>
          <a:xfrm>
            <a:off x="4251485" y="1979341"/>
            <a:ext cx="34698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South Korea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Tech-forward but highly competitive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Requires sharper GTM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Strong candidate once product-market fit and playbooks are refined</a:t>
            </a:r>
          </a:p>
        </p:txBody>
      </p:sp>
    </p:spTree>
    <p:extLst>
      <p:ext uri="{BB962C8B-B14F-4D97-AF65-F5344CB8AC3E}">
        <p14:creationId xmlns:p14="http://schemas.microsoft.com/office/powerpoint/2010/main" val="194469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E6E0D9-E9C2-51C3-D007-159F27A2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Phased Expansion Preserves Optionality and Reduces Risk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D745A7-54D4-454A-5854-0357DAAEA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Wave 1 markets provide fast feedback with low compliance risk:</a:t>
            </a:r>
          </a:p>
          <a:p>
            <a:r>
              <a:rPr lang="en-US" sz="2400" dirty="0"/>
              <a:t>Lessons compound into repeatable playbooks. </a:t>
            </a:r>
          </a:p>
          <a:p>
            <a:r>
              <a:rPr lang="en-US" sz="2400" dirty="0"/>
              <a:t>Reduces the cost of early execution mistakes</a:t>
            </a:r>
          </a:p>
          <a:p>
            <a:pPr marL="0" indent="0">
              <a:buNone/>
            </a:pPr>
            <a:r>
              <a:rPr lang="en-US" sz="2400" b="1" dirty="0"/>
              <a:t>Capabilities Built in Wave 1 Enable Wave 2 Success: </a:t>
            </a:r>
          </a:p>
          <a:p>
            <a:r>
              <a:rPr lang="en-US" sz="2400" dirty="0"/>
              <a:t>Localization maturity, GTM precision, and governance improve over time. </a:t>
            </a:r>
          </a:p>
          <a:p>
            <a:r>
              <a:rPr lang="en-US" sz="2400" dirty="0"/>
              <a:t>Higher-effort markets benefit from proven processes. </a:t>
            </a:r>
          </a:p>
          <a:p>
            <a:r>
              <a:rPr lang="en-US" sz="2400" dirty="0"/>
              <a:t>Expansion becomes capability-led, not hope-led</a:t>
            </a:r>
          </a:p>
          <a:p>
            <a:pPr marL="0" indent="0">
              <a:buNone/>
            </a:pPr>
            <a:r>
              <a:rPr lang="en-US" sz="2400" b="1" dirty="0"/>
              <a:t>Sequencing Minimizes Irreversible Risk: </a:t>
            </a:r>
          </a:p>
          <a:p>
            <a:r>
              <a:rPr lang="en-US" sz="2400" dirty="0"/>
              <a:t>Avoids overcommitting to high-uncertainty markets early. </a:t>
            </a:r>
          </a:p>
          <a:p>
            <a:r>
              <a:rPr lang="en-US" sz="2400" dirty="0"/>
              <a:t>Maintains flexibility to pause, accelerate, or reshape plans. </a:t>
            </a:r>
          </a:p>
          <a:p>
            <a:r>
              <a:rPr lang="en-US" sz="2400" dirty="0"/>
              <a:t>Protects capital while preserving long-term upside</a:t>
            </a:r>
          </a:p>
        </p:txBody>
      </p:sp>
    </p:spTree>
    <p:extLst>
      <p:ext uri="{BB962C8B-B14F-4D97-AF65-F5344CB8AC3E}">
        <p14:creationId xmlns:p14="http://schemas.microsoft.com/office/powerpoint/2010/main" val="307092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14419</TotalTime>
  <Words>325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APAC Market Entry Sequencing Recommendation</vt:lpstr>
      <vt:lpstr>How Markets Were Evaluated</vt:lpstr>
      <vt:lpstr>Relative Market Attractiveness Across Key Factors</vt:lpstr>
      <vt:lpstr>Wave 1 Markets Enable Fast Learning with Low Execution Risk</vt:lpstr>
      <vt:lpstr>Wave 2 Balance Upside with Operational Readiness</vt:lpstr>
      <vt:lpstr>Phased Expansion Preserves Optionality and Reduces Risk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Martin</dc:creator>
  <cp:lastModifiedBy>Logan Martin</cp:lastModifiedBy>
  <cp:revision>2</cp:revision>
  <dcterms:created xsi:type="dcterms:W3CDTF">2025-12-17T22:40:56Z</dcterms:created>
  <dcterms:modified xsi:type="dcterms:W3CDTF">2025-12-30T15:41:21Z</dcterms:modified>
</cp:coreProperties>
</file>